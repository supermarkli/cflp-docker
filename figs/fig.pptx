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2" r:id="rId4"/>
    <p:sldId id="264" r:id="rId5"/>
    <p:sldId id="265" r:id="rId6"/>
    <p:sldId id="266" r:id="rId7"/>
    <p:sldId id="257" r:id="rId8"/>
    <p:sldId id="258" r:id="rId9"/>
    <p:sldId id="260" r:id="rId10"/>
    <p:sldId id="263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7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A749"/>
    <a:srgbClr val="66A14D"/>
    <a:srgbClr val="5FA449"/>
    <a:srgbClr val="BBD2E9"/>
    <a:srgbClr val="BCD7AE"/>
    <a:srgbClr val="FCFCFB"/>
    <a:srgbClr val="FFFFFF"/>
    <a:srgbClr val="FEFFFF"/>
    <a:srgbClr val="FEFEFE"/>
    <a:srgbClr val="FD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132" y="114"/>
      </p:cViewPr>
      <p:guideLst>
        <p:guide orient="horz" pos="2165"/>
        <p:guide pos="37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0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image" Target="../media/image1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tags" Target="../tags/tag47.xml"/><Relationship Id="rId3" Type="http://schemas.openxmlformats.org/officeDocument/2006/relationships/image" Target="../media/image4.png"/><Relationship Id="rId2" Type="http://schemas.openxmlformats.org/officeDocument/2006/relationships/tags" Target="../tags/tag4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9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3" name="直接箭头连接符 42"/>
          <p:cNvCxnSpPr/>
          <p:nvPr/>
        </p:nvCxnSpPr>
        <p:spPr>
          <a:xfrm>
            <a:off x="7392035" y="3644900"/>
            <a:ext cx="1731645" cy="60452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3114675" y="3644900"/>
            <a:ext cx="1685290" cy="601345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784725" y="1108710"/>
            <a:ext cx="2621915" cy="343662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1302385" y="407670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784725" y="407670"/>
            <a:ext cx="2621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开始训练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4725" y="1205230"/>
            <a:ext cx="2621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服务器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箭头连接符 7"/>
          <p:cNvCxnSpPr>
            <a:stCxn id="6" idx="2"/>
            <a:endCxn id="4" idx="0"/>
          </p:cNvCxnSpPr>
          <p:nvPr/>
        </p:nvCxnSpPr>
        <p:spPr>
          <a:xfrm>
            <a:off x="6096000" y="775970"/>
            <a:ext cx="0" cy="33274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2"/>
            </p:custDataLst>
          </p:nvPr>
        </p:nvCxnSpPr>
        <p:spPr>
          <a:xfrm>
            <a:off x="6096000" y="1573530"/>
            <a:ext cx="0" cy="33274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784725" y="1924050"/>
            <a:ext cx="2621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3"/>
            </p:custDataLst>
          </p:nvPr>
        </p:nvCxnSpPr>
        <p:spPr>
          <a:xfrm>
            <a:off x="6096000" y="2310130"/>
            <a:ext cx="0" cy="33274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84725" y="2660650"/>
            <a:ext cx="2621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全局聚合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>
            <p:custDataLst>
              <p:tags r:id="rId4"/>
            </p:custDataLst>
          </p:nvPr>
        </p:nvCxnSpPr>
        <p:spPr>
          <a:xfrm>
            <a:off x="6096000" y="3046730"/>
            <a:ext cx="0" cy="33274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5201285" y="3429000"/>
            <a:ext cx="1781810" cy="739140"/>
          </a:xfrm>
          <a:prstGeom prst="flowChartDecision">
            <a:avLst/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951730" y="3614420"/>
            <a:ext cx="228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终止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条件？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860925" y="2526030"/>
            <a:ext cx="52578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∑</a:t>
            </a:r>
            <a:endParaRPr lang="en-US" altLang="zh-CN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>
            <a:stCxn id="16" idx="3"/>
          </p:cNvCxnSpPr>
          <p:nvPr>
            <p:custDataLst>
              <p:tags r:id="rId6"/>
            </p:custDataLst>
          </p:nvPr>
        </p:nvCxnSpPr>
        <p:spPr>
          <a:xfrm flipH="1" flipV="1">
            <a:off x="6981190" y="3797935"/>
            <a:ext cx="251460" cy="63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 flipV="1">
            <a:off x="7221220" y="2832735"/>
            <a:ext cx="635" cy="97536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8"/>
            </p:custDataLst>
          </p:nvPr>
        </p:nvCxnSpPr>
        <p:spPr>
          <a:xfrm flipH="1">
            <a:off x="6793230" y="2843530"/>
            <a:ext cx="439420" cy="254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6838950" y="3440430"/>
            <a:ext cx="382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10"/>
            </p:custDataLst>
          </p:nvPr>
        </p:nvCxnSpPr>
        <p:spPr>
          <a:xfrm>
            <a:off x="6096000" y="4168140"/>
            <a:ext cx="2540" cy="89408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6219190" y="4588510"/>
            <a:ext cx="382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流程图: 终止 23"/>
          <p:cNvSpPr/>
          <p:nvPr>
            <p:custDataLst>
              <p:tags r:id="rId12"/>
            </p:custDataLst>
          </p:nvPr>
        </p:nvSpPr>
        <p:spPr>
          <a:xfrm>
            <a:off x="5634355" y="5062220"/>
            <a:ext cx="926465" cy="400050"/>
          </a:xfrm>
          <a:prstGeom prst="flowChartTerminator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5634355" y="5062220"/>
            <a:ext cx="926465" cy="4025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03020" y="407035"/>
            <a:ext cx="1799590" cy="341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1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04670" y="814070"/>
            <a:ext cx="797560" cy="79756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303655" y="1746250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本地训练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ChangeAspect="1"/>
          </p:cNvSpPr>
          <p:nvPr/>
        </p:nvSpPr>
        <p:spPr>
          <a:xfrm>
            <a:off x="1303655" y="3664585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304290" y="3663950"/>
            <a:ext cx="1799590" cy="341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2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805940" y="4070985"/>
            <a:ext cx="797560" cy="79756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1304925" y="5003165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本地训练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矩形 32"/>
          <p:cNvSpPr>
            <a:spLocks noChangeAspect="1"/>
          </p:cNvSpPr>
          <p:nvPr/>
        </p:nvSpPr>
        <p:spPr>
          <a:xfrm>
            <a:off x="9089390" y="407670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090025" y="407035"/>
            <a:ext cx="1799590" cy="341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3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591675" y="814070"/>
            <a:ext cx="797560" cy="79756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18"/>
            </p:custDataLst>
          </p:nvPr>
        </p:nvSpPr>
        <p:spPr>
          <a:xfrm>
            <a:off x="9090660" y="1746250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本地训练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矩形 36"/>
          <p:cNvSpPr>
            <a:spLocks noChangeAspect="1"/>
          </p:cNvSpPr>
          <p:nvPr/>
        </p:nvSpPr>
        <p:spPr>
          <a:xfrm>
            <a:off x="9091295" y="3664585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9091930" y="3663950"/>
            <a:ext cx="1799590" cy="341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N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593580" y="4070985"/>
            <a:ext cx="797560" cy="79756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9092565" y="5003165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本地训练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1" name="直接箭头连接符 40"/>
          <p:cNvCxnSpPr>
            <a:stCxn id="5" idx="3"/>
          </p:cNvCxnSpPr>
          <p:nvPr/>
        </p:nvCxnSpPr>
        <p:spPr>
          <a:xfrm>
            <a:off x="3102610" y="1308100"/>
            <a:ext cx="1681480" cy="65786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3110865" y="981075"/>
            <a:ext cx="1682750" cy="671195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37" idx="1"/>
          </p:cNvCxnSpPr>
          <p:nvPr/>
        </p:nvCxnSpPr>
        <p:spPr>
          <a:xfrm flipH="1" flipV="1">
            <a:off x="7406640" y="3982720"/>
            <a:ext cx="1684655" cy="582295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29" idx="3"/>
          </p:cNvCxnSpPr>
          <p:nvPr/>
        </p:nvCxnSpPr>
        <p:spPr>
          <a:xfrm flipV="1">
            <a:off x="3103880" y="3964305"/>
            <a:ext cx="1691005" cy="60071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3" idx="1"/>
          </p:cNvCxnSpPr>
          <p:nvPr/>
        </p:nvCxnSpPr>
        <p:spPr>
          <a:xfrm flipH="1">
            <a:off x="7406640" y="1308100"/>
            <a:ext cx="1682750" cy="657860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7406640" y="981075"/>
            <a:ext cx="1713865" cy="648335"/>
          </a:xfrm>
          <a:prstGeom prst="straightConnector1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 rot="1260000">
            <a:off x="3133090" y="963930"/>
            <a:ext cx="182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分发模型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 rot="20340000">
            <a:off x="7233920" y="986155"/>
            <a:ext cx="1833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分发模型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 rot="20460000">
            <a:off x="2938780" y="3597910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分发模型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 rot="1200000">
            <a:off x="7482840" y="3611880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分发模型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 rot="1320000">
            <a:off x="2948305" y="1613535"/>
            <a:ext cx="1913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更新模型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 rot="20400000">
            <a:off x="3111500" y="4260850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更新模型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 rot="1200000">
            <a:off x="7284720" y="4279265"/>
            <a:ext cx="179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更新模型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 rot="20400000">
            <a:off x="7371715" y="1589405"/>
            <a:ext cx="2021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更新模型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695815" y="2292350"/>
            <a:ext cx="581660" cy="121285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· · ·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695960" y="1628140"/>
            <a:ext cx="5071745" cy="3600450"/>
          </a:xfrm>
          <a:prstGeom prst="rect">
            <a:avLst/>
          </a:prstGeom>
          <a:ln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2030095" y="2355850"/>
            <a:ext cx="3737610" cy="287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695960" y="1628140"/>
            <a:ext cx="3737610" cy="29444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>
            <p:custDataLst>
              <p:tags r:id="rId4"/>
            </p:custDataLst>
          </p:nvPr>
        </p:nvSpPr>
        <p:spPr>
          <a:xfrm>
            <a:off x="2030095" y="1628140"/>
            <a:ext cx="2395220" cy="3600450"/>
          </a:xfrm>
          <a:prstGeom prst="rect">
            <a:avLst/>
          </a:prstGeom>
          <a:ln w="28575" cmpd="sng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>
            <p:custDataLst>
              <p:tags r:id="rId5"/>
            </p:custDataLst>
          </p:nvPr>
        </p:nvSpPr>
        <p:spPr>
          <a:xfrm>
            <a:off x="6528435" y="1628775"/>
            <a:ext cx="5071745" cy="3600450"/>
          </a:xfrm>
          <a:prstGeom prst="rect">
            <a:avLst/>
          </a:prstGeom>
          <a:ln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>
            <p:custDataLst>
              <p:tags r:id="rId6"/>
            </p:custDataLst>
          </p:nvPr>
        </p:nvSpPr>
        <p:spPr>
          <a:xfrm>
            <a:off x="7862570" y="2356485"/>
            <a:ext cx="3737610" cy="287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7"/>
            </p:custDataLst>
          </p:nvPr>
        </p:nvSpPr>
        <p:spPr>
          <a:xfrm>
            <a:off x="6528435" y="1628775"/>
            <a:ext cx="3737610" cy="29444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>
            <p:custDataLst>
              <p:tags r:id="rId8"/>
            </p:custDataLst>
          </p:nvPr>
        </p:nvSpPr>
        <p:spPr>
          <a:xfrm>
            <a:off x="6528435" y="2356485"/>
            <a:ext cx="5057140" cy="2216785"/>
          </a:xfrm>
          <a:prstGeom prst="rect">
            <a:avLst/>
          </a:prstGeom>
          <a:ln w="28575" cmpd="sng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2030095" y="1628140"/>
            <a:ext cx="2394585" cy="359981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横向联邦学习</a:t>
            </a:r>
            <a:endParaRPr lang="zh-CN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0"/>
            </p:custDataLst>
          </p:nvPr>
        </p:nvSpPr>
        <p:spPr>
          <a:xfrm>
            <a:off x="6528435" y="2348865"/>
            <a:ext cx="5071745" cy="22180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纵向联邦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endParaRPr lang="zh-CN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>
            <a:off x="21590" y="1628140"/>
            <a:ext cx="673735" cy="35756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样本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2"/>
            </p:custDataLst>
          </p:nvPr>
        </p:nvSpPr>
        <p:spPr>
          <a:xfrm>
            <a:off x="5850255" y="1628140"/>
            <a:ext cx="673735" cy="35756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样本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94690" y="5228590"/>
            <a:ext cx="5073015" cy="7340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特征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528435" y="5229225"/>
            <a:ext cx="5073015" cy="7340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特征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94690" y="1621790"/>
            <a:ext cx="1335405" cy="7340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 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zh-CN" altLang="en-US" sz="20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523990" y="1614805"/>
            <a:ext cx="1335405" cy="7340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 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zh-CN" altLang="en-US" sz="20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4425315" y="4509135"/>
            <a:ext cx="1335405" cy="7340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endParaRPr lang="en-US" altLang="zh-CN" sz="20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270490" y="4573270"/>
            <a:ext cx="1335405" cy="7016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endParaRPr lang="en-US" altLang="zh-CN" sz="20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Gemini_Generated_Image_88o7ap88o7ap88o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6503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8615" y="45085"/>
            <a:ext cx="931545" cy="30035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屏障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60420" y="621030"/>
            <a:ext cx="2103755" cy="367665"/>
          </a:xfrm>
          <a:prstGeom prst="rect">
            <a:avLst/>
          </a:prstGeom>
          <a:solidFill>
            <a:srgbClr val="E3E3E2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CPU</a:t>
            </a:r>
            <a:endParaRPr lang="en-US" altLang="zh-CN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24205" y="1196975"/>
            <a:ext cx="3848100" cy="939800"/>
          </a:xfrm>
          <a:prstGeom prst="rect">
            <a:avLst/>
          </a:prstGeom>
          <a:solidFill>
            <a:srgbClr val="B8D1E9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富执行环境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167755" y="1196975"/>
            <a:ext cx="2148205" cy="1020445"/>
          </a:xfrm>
          <a:prstGeom prst="rect">
            <a:avLst/>
          </a:prstGeom>
          <a:solidFill>
            <a:srgbClr val="BBD6AE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可信执行环境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1416050" y="3284855"/>
            <a:ext cx="2184400" cy="619125"/>
          </a:xfrm>
          <a:prstGeom prst="rect">
            <a:avLst/>
          </a:prstGeom>
          <a:solidFill>
            <a:srgbClr val="B9D4EA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不可信系统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不可信应用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3792220" y="2856865"/>
            <a:ext cx="1812925" cy="1014095"/>
          </a:xfrm>
          <a:prstGeom prst="rect">
            <a:avLst/>
          </a:prstGeom>
          <a:solidFill>
            <a:srgbClr val="B9D4E8"/>
          </a:solidFill>
        </p:spPr>
        <p:txBody>
          <a:bodyPr wrap="square" rtlCol="0" anchor="t" anchorCtr="0">
            <a:noAutofit/>
          </a:bodyPr>
          <a:p>
            <a:pPr algn="r">
              <a:lnSpc>
                <a:spcPct val="12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硬件强制隔离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6456045" y="3284855"/>
            <a:ext cx="1654810" cy="586105"/>
          </a:xfrm>
          <a:prstGeom prst="rect">
            <a:avLst/>
          </a:prstGeom>
          <a:solidFill>
            <a:srgbClr val="BBD6AE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可信应用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敏感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矩形 26"/>
          <p:cNvSpPr/>
          <p:nvPr>
            <p:custDataLst>
              <p:tags r:id="rId7"/>
            </p:custDataLst>
          </p:nvPr>
        </p:nvSpPr>
        <p:spPr>
          <a:xfrm>
            <a:off x="7570470" y="4476750"/>
            <a:ext cx="1007745" cy="50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7517130" y="4546600"/>
            <a:ext cx="1114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加密引擎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1417955" y="5355590"/>
            <a:ext cx="2808605" cy="586105"/>
          </a:xfrm>
          <a:prstGeom prst="rect">
            <a:avLst/>
          </a:prstGeom>
          <a:solidFill>
            <a:srgbClr val="B8D1E9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常规内存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5880100" y="5355590"/>
            <a:ext cx="2158365" cy="585470"/>
          </a:xfrm>
          <a:prstGeom prst="rect">
            <a:avLst/>
          </a:prstGeom>
          <a:solidFill>
            <a:srgbClr val="BBD6AE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加密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内存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16275" y="6165215"/>
            <a:ext cx="2437765" cy="491490"/>
          </a:xfrm>
          <a:prstGeom prst="rect">
            <a:avLst/>
          </a:prstGeom>
          <a:solidFill>
            <a:srgbClr val="FEFFFF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物理内存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8903970" y="5308600"/>
            <a:ext cx="1595755" cy="796925"/>
          </a:xfrm>
          <a:prstGeom prst="rect">
            <a:avLst/>
          </a:prstGeom>
          <a:solidFill>
            <a:srgbClr val="FEFFFF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运行时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保护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8775065" y="3487420"/>
            <a:ext cx="1854200" cy="976630"/>
          </a:xfrm>
          <a:prstGeom prst="rect">
            <a:avLst/>
          </a:prstGeom>
          <a:solidFill>
            <a:srgbClr val="FEFFFF"/>
          </a:solidFill>
        </p:spPr>
        <p:txBody>
          <a:bodyPr wrap="square" rtlCol="0">
            <a:noAutofit/>
          </a:bodyPr>
          <a:p>
            <a:pPr algn="l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签名证明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报告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8907780" y="1341120"/>
            <a:ext cx="1223010" cy="938530"/>
          </a:xfrm>
          <a:prstGeom prst="rect">
            <a:avLst/>
          </a:prstGeom>
          <a:solidFill>
            <a:srgbClr val="FCFCFB"/>
          </a:solidFill>
        </p:spPr>
        <p:txBody>
          <a:bodyPr wrap="square" rtlCol="0" anchor="b" anchorCtr="0">
            <a:noAutofit/>
          </a:bodyPr>
          <a:p>
            <a:pPr algn="l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远程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10690860" y="2916555"/>
            <a:ext cx="1312545" cy="815975"/>
          </a:xfrm>
          <a:prstGeom prst="rect">
            <a:avLst/>
          </a:prstGeom>
          <a:solidFill>
            <a:srgbClr val="FEFFFF"/>
          </a:solidFill>
        </p:spPr>
        <p:txBody>
          <a:bodyPr wrap="square" rtlCol="0">
            <a:noAutofit/>
          </a:bodyPr>
          <a:p>
            <a:pPr algn="l"/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远程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用户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487805" y="1845310"/>
            <a:ext cx="3362325" cy="2242185"/>
          </a:xfrm>
          <a:prstGeom prst="rect">
            <a:avLst/>
          </a:prstGeom>
          <a:solidFill>
            <a:srgbClr val="BBD2E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88440" y="4653280"/>
            <a:ext cx="4419600" cy="601980"/>
          </a:xfrm>
          <a:prstGeom prst="rect">
            <a:avLst/>
          </a:prstGeom>
          <a:solidFill>
            <a:srgbClr val="BBD2E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877695" y="2493010"/>
            <a:ext cx="2583180" cy="1259840"/>
          </a:xfrm>
          <a:prstGeom prst="rect">
            <a:avLst/>
          </a:prstGeom>
          <a:solidFill>
            <a:srgbClr val="BCD7A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320" y="2925445"/>
            <a:ext cx="789305" cy="756920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6177915" y="1196975"/>
            <a:ext cx="0" cy="42481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>
            <p:custDataLst>
              <p:tags r:id="rId2"/>
            </p:custDataLst>
          </p:nvPr>
        </p:nvCxnSpPr>
        <p:spPr>
          <a:xfrm flipV="1">
            <a:off x="3132455" y="3789045"/>
            <a:ext cx="0" cy="864235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876550" y="4140200"/>
            <a:ext cx="434975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❌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03680" y="1989455"/>
            <a:ext cx="3346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应用程序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进程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877695" y="2925445"/>
            <a:ext cx="1861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SGX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飞地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87805" y="4770120"/>
            <a:ext cx="441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不可信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OS/VMM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564765"/>
            <a:ext cx="802005" cy="50419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5106035" y="3068955"/>
            <a:ext cx="80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EPC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616315" y="1845945"/>
            <a:ext cx="2324735" cy="3408680"/>
          </a:xfrm>
          <a:prstGeom prst="rect">
            <a:avLst/>
          </a:prstGeom>
          <a:solidFill>
            <a:srgbClr val="BCD7A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53835" y="1828165"/>
            <a:ext cx="1287780" cy="3427730"/>
          </a:xfrm>
          <a:prstGeom prst="rect">
            <a:avLst/>
          </a:prstGeom>
          <a:solidFill>
            <a:srgbClr val="BBD2E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>
            <p:custDataLst>
              <p:tags r:id="rId4"/>
            </p:custDataLst>
          </p:nvPr>
        </p:nvCxnSpPr>
        <p:spPr>
          <a:xfrm>
            <a:off x="7823835" y="3294380"/>
            <a:ext cx="792480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964170" y="3113405"/>
            <a:ext cx="434975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❌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14410" y="1972310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信任域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45580" y="1845945"/>
            <a:ext cx="1287780" cy="34086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不可信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OS/VMM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59825" y="4376420"/>
            <a:ext cx="2011045" cy="527685"/>
          </a:xfrm>
          <a:prstGeom prst="rect">
            <a:avLst/>
          </a:prstGeom>
          <a:solidFill>
            <a:srgbClr val="72A74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Guest OS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479915" y="2924810"/>
            <a:ext cx="1282065" cy="1187450"/>
          </a:xfrm>
          <a:prstGeom prst="rect">
            <a:avLst/>
          </a:prstGeom>
          <a:solidFill>
            <a:srgbClr val="72A74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应用程序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0" y="3331210"/>
            <a:ext cx="789305" cy="75692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3145" y="2340610"/>
            <a:ext cx="821055" cy="166941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11196955" y="4140200"/>
            <a:ext cx="793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TD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私有内存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127760" y="1177290"/>
            <a:ext cx="4852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SGX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架构图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545580" y="1125220"/>
            <a:ext cx="5445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TDX 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架构图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1847850" y="908685"/>
            <a:ext cx="3467100" cy="1038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2"/>
            </p:custDataLst>
          </p:nvPr>
        </p:nvSpPr>
        <p:spPr>
          <a:xfrm>
            <a:off x="1847850" y="1021080"/>
            <a:ext cx="346710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数据集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e.g. , MINST, CIFAR-10 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527800" y="908685"/>
            <a:ext cx="3467100" cy="1038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527800" y="1021080"/>
            <a:ext cx="346710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数据划分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策略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e.g. , IID, Non-IID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0" name="直接箭头连接符 9"/>
          <p:cNvCxnSpPr>
            <a:stCxn id="45" idx="3"/>
            <a:endCxn id="9" idx="1"/>
          </p:cNvCxnSpPr>
          <p:nvPr>
            <p:custDataLst>
              <p:tags r:id="rId5"/>
            </p:custDataLst>
          </p:nvPr>
        </p:nvCxnSpPr>
        <p:spPr>
          <a:xfrm>
            <a:off x="5314950" y="1375410"/>
            <a:ext cx="1212850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847850" y="2348865"/>
            <a:ext cx="8146415" cy="22066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849120" y="2421255"/>
            <a:ext cx="814578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单进程伪分布式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模拟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共享空间地址，串行化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执行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2063750" y="3284855"/>
            <a:ext cx="2909570" cy="1038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063750" y="3429000"/>
            <a:ext cx="290957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模型库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e.g. , CNN, R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esNet 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>
            <p:custDataLst>
              <p:tags r:id="rId10"/>
            </p:custDataLst>
          </p:nvPr>
        </p:nvSpPr>
        <p:spPr>
          <a:xfrm>
            <a:off x="5807710" y="3284855"/>
            <a:ext cx="3801110" cy="1038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5807710" y="3429000"/>
            <a:ext cx="290957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串行化客户端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训练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模拟多客户端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1" name="图片 20" descr="返回箭头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8903970" y="3563620"/>
            <a:ext cx="502285" cy="487045"/>
          </a:xfrm>
          <a:prstGeom prst="rect">
            <a:avLst/>
          </a:prstGeom>
        </p:spPr>
      </p:pic>
      <p:cxnSp>
        <p:nvCxnSpPr>
          <p:cNvPr id="22" name="直接箭头连接符 21"/>
          <p:cNvCxnSpPr>
            <a:stCxn id="5" idx="2"/>
          </p:cNvCxnSpPr>
          <p:nvPr>
            <p:custDataLst>
              <p:tags r:id="rId14"/>
            </p:custDataLst>
          </p:nvPr>
        </p:nvCxnSpPr>
        <p:spPr>
          <a:xfrm flipH="1">
            <a:off x="8256270" y="1947545"/>
            <a:ext cx="5080" cy="1337945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920740" y="4555490"/>
            <a:ext cx="0" cy="25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>
            <p:custDataLst>
              <p:tags r:id="rId15"/>
            </p:custDataLst>
          </p:nvPr>
        </p:nvCxnSpPr>
        <p:spPr>
          <a:xfrm flipH="1">
            <a:off x="3585210" y="4779010"/>
            <a:ext cx="5080" cy="39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16"/>
            </p:custDataLst>
          </p:nvPr>
        </p:nvCxnSpPr>
        <p:spPr>
          <a:xfrm>
            <a:off x="8256270" y="4796790"/>
            <a:ext cx="0" cy="37846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>
            <p:custDataLst>
              <p:tags r:id="rId17"/>
            </p:custDataLst>
          </p:nvPr>
        </p:nvSpPr>
        <p:spPr>
          <a:xfrm>
            <a:off x="1842770" y="5175250"/>
            <a:ext cx="3467100" cy="1038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1842770" y="5287645"/>
            <a:ext cx="346710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任务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：算法原型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验证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无加密开销，快速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评估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7" name="圆角矩形 46"/>
          <p:cNvSpPr/>
          <p:nvPr>
            <p:custDataLst>
              <p:tags r:id="rId19"/>
            </p:custDataLst>
          </p:nvPr>
        </p:nvSpPr>
        <p:spPr>
          <a:xfrm>
            <a:off x="6522720" y="5175250"/>
            <a:ext cx="3467100" cy="10388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20"/>
            </p:custDataLst>
          </p:nvPr>
        </p:nvSpPr>
        <p:spPr>
          <a:xfrm>
            <a:off x="6522720" y="5287645"/>
            <a:ext cx="3467100" cy="7080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任务</a:t>
            </a:r>
            <a:r>
              <a:rPr lang="en-US" altLang="zh-CN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：性能基线</a:t>
            </a:r>
            <a:r>
              <a:rPr lang="zh-CN" altLang="en-US" sz="24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确认</a:t>
            </a:r>
            <a:endParaRPr lang="zh-CN" altLang="en-US" sz="24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明文状态准确率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/ 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收敛</a:t>
            </a:r>
            <a:r>
              <a:rPr lang="zh-CN" altLang="en-US" sz="2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轮数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575685" y="4796790"/>
            <a:ext cx="4698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>
            <p:custDataLst>
              <p:tags r:id="rId21"/>
            </p:custDataLst>
          </p:nvPr>
        </p:nvCxnSpPr>
        <p:spPr>
          <a:xfrm>
            <a:off x="4973320" y="3783330"/>
            <a:ext cx="834390" cy="5715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1300480" y="3811905"/>
            <a:ext cx="9547225" cy="25431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rgbClr val="D1CFC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0540365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7" idx="2"/>
          </p:cNvCxnSpPr>
          <p:nvPr/>
        </p:nvCxnSpPr>
        <p:spPr>
          <a:xfrm>
            <a:off x="1578610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34036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8704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930656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945324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服务器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40360" y="1348105"/>
            <a:ext cx="11442700" cy="481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2615" y="1380490"/>
            <a:ext cx="1103312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启动与注册阶段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591310" y="2549525"/>
            <a:ext cx="8950325" cy="18415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578610" y="2005330"/>
            <a:ext cx="8935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RegisterAndSetup (client_id, data_size)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1578610" y="3377565"/>
            <a:ext cx="8950325" cy="1841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97025" y="2848610"/>
            <a:ext cx="8933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SetupResponse (privacy_mode, initial_model, 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加密材料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e.g. HE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公钥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/SGX Quote)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8135" y="3893185"/>
            <a:ext cx="8953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LOOP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轮询状态检查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611630" y="5036185"/>
            <a:ext cx="8950325" cy="18415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598930" y="4491990"/>
            <a:ext cx="8935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CheckTrainingStatus (client_id)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1598930" y="5864225"/>
            <a:ext cx="8950325" cy="1841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617345" y="5335270"/>
            <a:ext cx="8933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TrainingStatusResponse (code)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矩形 37"/>
          <p:cNvSpPr/>
          <p:nvPr>
            <p:custDataLst>
              <p:tags r:id="rId1"/>
            </p:custDataLst>
          </p:nvPr>
        </p:nvSpPr>
        <p:spPr>
          <a:xfrm>
            <a:off x="5608955" y="3587115"/>
            <a:ext cx="5385435" cy="263588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rgbClr val="D1CFC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0540365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7" idx="2"/>
          </p:cNvCxnSpPr>
          <p:nvPr>
            <p:custDataLst>
              <p:tags r:id="rId2"/>
            </p:custDataLst>
          </p:nvPr>
        </p:nvCxnSpPr>
        <p:spPr>
          <a:xfrm>
            <a:off x="1578610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34036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8704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5"/>
            </p:custDataLst>
          </p:nvPr>
        </p:nvSpPr>
        <p:spPr>
          <a:xfrm>
            <a:off x="930656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945324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Enclave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SGX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340360" y="1348105"/>
            <a:ext cx="2477135" cy="481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8"/>
            </p:custDataLst>
          </p:nvPr>
        </p:nvSpPr>
        <p:spPr>
          <a:xfrm>
            <a:off x="340360" y="1380490"/>
            <a:ext cx="247586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本地训练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1578610" y="1968500"/>
            <a:ext cx="3228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train ( ) on local data 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10"/>
            </p:custDataLst>
          </p:nvPr>
        </p:nvCxnSpPr>
        <p:spPr>
          <a:xfrm flipV="1">
            <a:off x="5975350" y="4905375"/>
            <a:ext cx="4551680" cy="82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87500" y="2475865"/>
            <a:ext cx="440499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SubmitUpdate ( round, payload)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4" name="任意多边形 23"/>
          <p:cNvSpPr/>
          <p:nvPr>
            <p:custDataLst>
              <p:tags r:id="rId11"/>
            </p:custDataLst>
          </p:nvPr>
        </p:nvSpPr>
        <p:spPr>
          <a:xfrm>
            <a:off x="1584325" y="1939290"/>
            <a:ext cx="483235" cy="426085"/>
          </a:xfrm>
          <a:custGeom>
            <a:avLst/>
            <a:gdLst>
              <a:gd name="connisteX0" fmla="*/ 0 w 494547"/>
              <a:gd name="connsiteY0" fmla="*/ 66756 h 308800"/>
              <a:gd name="connisteX1" fmla="*/ 209550 w 494547"/>
              <a:gd name="connsiteY1" fmla="*/ 81 h 308800"/>
              <a:gd name="connisteX2" fmla="*/ 449580 w 494547"/>
              <a:gd name="connsiteY2" fmla="*/ 61041 h 308800"/>
              <a:gd name="connisteX3" fmla="*/ 464820 w 494547"/>
              <a:gd name="connsiteY3" fmla="*/ 245826 h 308800"/>
              <a:gd name="connisteX4" fmla="*/ 213360 w 494547"/>
              <a:gd name="connsiteY4" fmla="*/ 308691 h 308800"/>
              <a:gd name="connisteX5" fmla="*/ 0 w 494547"/>
              <a:gd name="connsiteY5" fmla="*/ 257256 h 30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494547" h="308800">
                <a:moveTo>
                  <a:pt x="0" y="66756"/>
                </a:moveTo>
                <a:cubicBezTo>
                  <a:pt x="36830" y="52151"/>
                  <a:pt x="119380" y="1351"/>
                  <a:pt x="209550" y="81"/>
                </a:cubicBezTo>
                <a:cubicBezTo>
                  <a:pt x="299720" y="-1189"/>
                  <a:pt x="398780" y="12146"/>
                  <a:pt x="449580" y="61041"/>
                </a:cubicBezTo>
                <a:cubicBezTo>
                  <a:pt x="500380" y="109936"/>
                  <a:pt x="511810" y="196296"/>
                  <a:pt x="464820" y="245826"/>
                </a:cubicBezTo>
                <a:cubicBezTo>
                  <a:pt x="417830" y="295356"/>
                  <a:pt x="306070" y="306151"/>
                  <a:pt x="213360" y="308691"/>
                </a:cubicBezTo>
                <a:cubicBezTo>
                  <a:pt x="120650" y="311231"/>
                  <a:pt x="37465" y="268686"/>
                  <a:pt x="0" y="257256"/>
                </a:cubicBezTo>
              </a:path>
            </a:pathLst>
          </a:custGeom>
          <a:noFill/>
          <a:ln w="2540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05250" y="3014345"/>
            <a:ext cx="2061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收集客户端更新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8" name="直接箭头连接符 27"/>
          <p:cNvCxnSpPr/>
          <p:nvPr>
            <p:custDataLst>
              <p:tags r:id="rId12"/>
            </p:custDataLst>
          </p:nvPr>
        </p:nvCxnSpPr>
        <p:spPr>
          <a:xfrm flipV="1">
            <a:off x="5980430" y="4000500"/>
            <a:ext cx="4553585" cy="13970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5977890" y="3582670"/>
            <a:ext cx="4563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转发加密载荷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TCP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套接字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5977890" y="4446270"/>
            <a:ext cx="4563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返回聚合结果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圆角矩形 31"/>
          <p:cNvSpPr/>
          <p:nvPr>
            <p:custDataLst>
              <p:tags r:id="rId15"/>
            </p:custDataLst>
          </p:nvPr>
        </p:nvSpPr>
        <p:spPr>
          <a:xfrm>
            <a:off x="474980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489648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服务器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17"/>
            </p:custDataLst>
          </p:nvPr>
        </p:nvSpPr>
        <p:spPr>
          <a:xfrm>
            <a:off x="5992495" y="3014345"/>
            <a:ext cx="483235" cy="426085"/>
          </a:xfrm>
          <a:custGeom>
            <a:avLst/>
            <a:gdLst>
              <a:gd name="connisteX0" fmla="*/ 0 w 494547"/>
              <a:gd name="connsiteY0" fmla="*/ 66756 h 308800"/>
              <a:gd name="connisteX1" fmla="*/ 209550 w 494547"/>
              <a:gd name="connsiteY1" fmla="*/ 81 h 308800"/>
              <a:gd name="connisteX2" fmla="*/ 449580 w 494547"/>
              <a:gd name="connsiteY2" fmla="*/ 61041 h 308800"/>
              <a:gd name="connisteX3" fmla="*/ 464820 w 494547"/>
              <a:gd name="connsiteY3" fmla="*/ 245826 h 308800"/>
              <a:gd name="connisteX4" fmla="*/ 213360 w 494547"/>
              <a:gd name="connsiteY4" fmla="*/ 308691 h 308800"/>
              <a:gd name="connisteX5" fmla="*/ 0 w 494547"/>
              <a:gd name="connsiteY5" fmla="*/ 257256 h 30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494547" h="308800">
                <a:moveTo>
                  <a:pt x="0" y="66756"/>
                </a:moveTo>
                <a:cubicBezTo>
                  <a:pt x="36830" y="52151"/>
                  <a:pt x="119380" y="1351"/>
                  <a:pt x="209550" y="81"/>
                </a:cubicBezTo>
                <a:cubicBezTo>
                  <a:pt x="299720" y="-1189"/>
                  <a:pt x="398780" y="12146"/>
                  <a:pt x="449580" y="61041"/>
                </a:cubicBezTo>
                <a:cubicBezTo>
                  <a:pt x="500380" y="109936"/>
                  <a:pt x="511810" y="196296"/>
                  <a:pt x="464820" y="245826"/>
                </a:cubicBezTo>
                <a:cubicBezTo>
                  <a:pt x="417830" y="295356"/>
                  <a:pt x="306070" y="306151"/>
                  <a:pt x="213360" y="308691"/>
                </a:cubicBezTo>
                <a:cubicBezTo>
                  <a:pt x="120650" y="311231"/>
                  <a:pt x="37465" y="268686"/>
                  <a:pt x="0" y="257256"/>
                </a:cubicBezTo>
              </a:path>
            </a:pathLst>
          </a:custGeom>
          <a:noFill/>
          <a:ln w="2540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8566785" y="4078605"/>
            <a:ext cx="201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解密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&amp; 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安全聚合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9"/>
            </p:custDataLst>
          </p:nvPr>
        </p:nvCxnSpPr>
        <p:spPr>
          <a:xfrm>
            <a:off x="5607050" y="5215255"/>
            <a:ext cx="5354955" cy="0"/>
          </a:xfrm>
          <a:prstGeom prst="line">
            <a:avLst/>
          </a:prstGeom>
          <a:ln w="28575" cmpd="sng">
            <a:solidFill>
              <a:srgbClr val="D1CFC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>
            <p:custDataLst>
              <p:tags r:id="rId20"/>
            </p:custDataLst>
          </p:nvPr>
        </p:nvSpPr>
        <p:spPr>
          <a:xfrm>
            <a:off x="7564120" y="5553710"/>
            <a:ext cx="201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解密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&amp; 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安全聚合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1"/>
            </p:custDataLst>
          </p:nvPr>
        </p:nvSpPr>
        <p:spPr>
          <a:xfrm>
            <a:off x="3891915" y="6353175"/>
            <a:ext cx="208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更新全局模型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矩形 41"/>
          <p:cNvSpPr/>
          <p:nvPr>
            <p:custDataLst>
              <p:tags r:id="rId22"/>
            </p:custDataLst>
          </p:nvPr>
        </p:nvSpPr>
        <p:spPr>
          <a:xfrm>
            <a:off x="6096000" y="4187825"/>
            <a:ext cx="1234440" cy="481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983605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23"/>
            </p:custDataLst>
          </p:nvPr>
        </p:nvSpPr>
        <p:spPr>
          <a:xfrm>
            <a:off x="6096000" y="4220210"/>
            <a:ext cx="1234440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SGX</a:t>
            </a:r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模式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矩形 43"/>
          <p:cNvSpPr/>
          <p:nvPr>
            <p:custDataLst>
              <p:tags r:id="rId24"/>
            </p:custDataLst>
          </p:nvPr>
        </p:nvSpPr>
        <p:spPr>
          <a:xfrm>
            <a:off x="6096000" y="5452110"/>
            <a:ext cx="1234440" cy="481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5"/>
            </p:custDataLst>
          </p:nvPr>
        </p:nvSpPr>
        <p:spPr>
          <a:xfrm>
            <a:off x="6096000" y="5484495"/>
            <a:ext cx="1234440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其他模式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591945" y="2894330"/>
            <a:ext cx="4417695" cy="635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1300480" y="3811905"/>
            <a:ext cx="9547225" cy="1736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rgbClr val="D1CFCF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0540365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7" idx="2"/>
          </p:cNvCxnSpPr>
          <p:nvPr/>
        </p:nvCxnSpPr>
        <p:spPr>
          <a:xfrm>
            <a:off x="1578610" y="1163320"/>
            <a:ext cx="8890" cy="5539105"/>
          </a:xfrm>
          <a:prstGeom prst="line">
            <a:avLst/>
          </a:prstGeom>
          <a:ln w="25400">
            <a:solidFill>
              <a:srgbClr val="D1CF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34036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8704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客户端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9306560" y="398145"/>
            <a:ext cx="2476500" cy="7651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9453245" y="596265"/>
            <a:ext cx="218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服务器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40360" y="1348105"/>
            <a:ext cx="11442700" cy="481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2615" y="1380490"/>
            <a:ext cx="1103312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获取新模型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591310" y="2549525"/>
            <a:ext cx="8950325" cy="18415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578610" y="2005330"/>
            <a:ext cx="8935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GetGlobalModel (client_id,round)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1578610" y="3377565"/>
            <a:ext cx="8950325" cy="1841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97025" y="2848610"/>
            <a:ext cx="8933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ModelParameters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更新后的全局模型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b="1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8135" y="3893185"/>
            <a:ext cx="8953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LOOP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直到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max_round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或者收敛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2540" y="4399915"/>
            <a:ext cx="9547225" cy="4813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5310" y="4432300"/>
            <a:ext cx="1103312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重复训练</a:t>
            </a:r>
            <a:r>
              <a:rPr lang="en-US" altLang="zh-CN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更新</a:t>
            </a:r>
            <a:r>
              <a:rPr lang="en-US" altLang="zh-CN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0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聚合循环</a:t>
            </a:r>
            <a:endParaRPr lang="zh-CN" altLang="en-US" sz="20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84250" y="549275"/>
            <a:ext cx="6551930" cy="286639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84250" y="4293235"/>
            <a:ext cx="6551930" cy="885825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27760" y="1019810"/>
            <a:ext cx="3930015" cy="2193290"/>
          </a:xfrm>
          <a:prstGeom prst="rect">
            <a:avLst/>
          </a:prstGeom>
          <a:solidFill>
            <a:srgbClr val="BCD1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27760" y="4436745"/>
            <a:ext cx="4152900" cy="601980"/>
          </a:xfrm>
          <a:prstGeom prst="rect">
            <a:avLst/>
          </a:prstGeom>
          <a:solidFill>
            <a:srgbClr val="BCD1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20055" y="1019810"/>
            <a:ext cx="1786255" cy="2193290"/>
          </a:xfrm>
          <a:prstGeom prst="rect">
            <a:avLst/>
          </a:prstGeom>
          <a:solidFill>
            <a:srgbClr val="BCD7A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80025" y="4436745"/>
            <a:ext cx="2026285" cy="601980"/>
          </a:xfrm>
          <a:prstGeom prst="rect">
            <a:avLst/>
          </a:prstGeom>
          <a:solidFill>
            <a:srgbClr val="BCD7A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140" y="1701165"/>
            <a:ext cx="789305" cy="7893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370" y="1268730"/>
            <a:ext cx="1696085" cy="1225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170" y="2204720"/>
            <a:ext cx="822960" cy="8039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755" y="1845310"/>
            <a:ext cx="789305" cy="7569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90" y="3482340"/>
            <a:ext cx="658495" cy="685165"/>
          </a:xfrm>
          <a:prstGeom prst="rect">
            <a:avLst/>
          </a:prstGeom>
        </p:spPr>
      </p:pic>
      <p:sp>
        <p:nvSpPr>
          <p:cNvPr id="15" name="左右箭头 14"/>
          <p:cNvSpPr/>
          <p:nvPr/>
        </p:nvSpPr>
        <p:spPr>
          <a:xfrm>
            <a:off x="7698105" y="1845310"/>
            <a:ext cx="2329180" cy="431800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231765" y="553720"/>
            <a:ext cx="148590" cy="2675255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3830955" y="1844675"/>
            <a:ext cx="2204085" cy="43243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875" y="1617345"/>
            <a:ext cx="659765" cy="659765"/>
          </a:xfrm>
          <a:prstGeom prst="rect">
            <a:avLst/>
          </a:prstGeom>
        </p:spPr>
      </p:pic>
      <p:sp>
        <p:nvSpPr>
          <p:cNvPr id="21" name="乘号 20"/>
          <p:cNvSpPr/>
          <p:nvPr/>
        </p:nvSpPr>
        <p:spPr>
          <a:xfrm>
            <a:off x="4864100" y="1557020"/>
            <a:ext cx="895350" cy="935990"/>
          </a:xfrm>
          <a:prstGeom prst="mathMultiply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519420" y="3494405"/>
            <a:ext cx="2017395" cy="72009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3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4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6.xml><?xml version="1.0" encoding="utf-8"?>
<p:tagLst xmlns:p="http://schemas.openxmlformats.org/presentationml/2006/main">
  <p:tag name="KSO_WM_UNIT_INDEX" val="41"/>
  <p:tag name="KSO_WM_UNIT_TYPE" val="i"/>
  <p:tag name="KSO_WM_BEAUTIFY_FLAG" val="#wm#"/>
</p:tagLst>
</file>

<file path=ppt/tags/tag7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8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9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10.xml><?xml version="1.0" encoding="utf-8"?>
<p:tagLst xmlns:p="http://schemas.openxmlformats.org/presentationml/2006/main">
  <p:tag name="KSO_WM_UNIT_INDEX" val="48"/>
  <p:tag name="KSO_WM_UNIT_TYPE" val="i"/>
  <p:tag name="KSO_WM_BEAUTIFY_FLAG" val="#wm#"/>
</p:tagLst>
</file>

<file path=ppt/tags/tag11.xml><?xml version="1.0" encoding="utf-8"?>
<p:tagLst xmlns:p="http://schemas.openxmlformats.org/presentationml/2006/main">
  <p:tag name="KSO_WM_UNIT_INDEX" val="49"/>
  <p:tag name="KSO_WM_UNIT_TYPE" val="f"/>
  <p:tag name="KSO_WM_UNIT_SUBTYPE" val="a"/>
  <p:tag name="KSO_WM_BEAUTIFY_FLAG" val="#wm#"/>
</p:tagLst>
</file>

<file path=ppt/tags/tag12.xml><?xml version="1.0" encoding="utf-8"?>
<p:tagLst xmlns:p="http://schemas.openxmlformats.org/presentationml/2006/main">
  <p:tag name="KSO_WM_UNIT_INDEX" val="52"/>
  <p:tag name="KSO_WM_UNIT_TYPE" val="i"/>
  <p:tag name="KSO_WM_BEAUTIFY_FLAG" val="#wm#"/>
</p:tagLst>
</file>

<file path=ppt/tags/tag13.xml><?xml version="1.0" encoding="utf-8"?>
<p:tagLst xmlns:p="http://schemas.openxmlformats.org/presentationml/2006/main">
  <p:tag name="KSO_WM_UNIT_INDEX" val="53"/>
  <p:tag name="KSO_WM_UNIT_TYPE" val="f"/>
  <p:tag name="KSO_WM_UNIT_SUBTYPE" val="a"/>
  <p:tag name="KSO_WM_BEAUTIFY_FLAG" val="#wm#"/>
</p:tagLst>
</file>

<file path=ppt/tags/tag14.xml><?xml version="1.0" encoding="utf-8"?>
<p:tagLst xmlns:p="http://schemas.openxmlformats.org/presentationml/2006/main">
  <p:tag name="KSO_WM_UNIT_INDEX" val="46"/>
  <p:tag name="KSO_WM_UNIT_TYPE" val="j"/>
  <p:tag name="KSO_WM_BEAUTIFY_FLAG" val="#wm#"/>
</p:tagLst>
</file>

<file path=ppt/tags/tag15.xml><?xml version="1.0" encoding="utf-8"?>
<p:tagLst xmlns:p="http://schemas.openxmlformats.org/presentationml/2006/main">
  <p:tag name="KSO_WM_UNIT_INDEX" val="50"/>
  <p:tag name="KSO_WM_UNIT_TYPE" val="f"/>
  <p:tag name="KSO_WM_UNIT_SUBTYPE" val="a"/>
  <p:tag name="KSO_WM_BEAUTIFY_FLAG" val="#wm#"/>
</p:tagLst>
</file>

<file path=ppt/tags/tag16.xml><?xml version="1.0" encoding="utf-8"?>
<p:tagLst xmlns:p="http://schemas.openxmlformats.org/presentationml/2006/main">
  <p:tag name="KSO_WM_UNIT_INDEX" val="10"/>
  <p:tag name="KSO_WM_UNIT_TYPE" val="j"/>
  <p:tag name="KSO_WM_BEAUTIFY_FLAG" val="#wm#"/>
</p:tagLst>
</file>

<file path=ppt/tags/tag17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18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19.xml><?xml version="1.0" encoding="utf-8"?>
<p:tagLst xmlns:p="http://schemas.openxmlformats.org/presentationml/2006/main">
  <p:tag name="KSO_WM_UNIT_INDEX" val="47"/>
  <p:tag name="KSO_WM_UNIT_TYPE" val="j"/>
  <p:tag name="KSO_WM_BEAUTIFY_FLAG" val="#wm#"/>
</p:tagLst>
</file>

<file path=ppt/tags/tag20.xml><?xml version="1.0" encoding="utf-8"?>
<p:tagLst xmlns:p="http://schemas.openxmlformats.org/presentationml/2006/main">
  <p:tag name="KSO_WM_UNIT_INDEX" val="51"/>
  <p:tag name="KSO_WM_UNIT_TYPE" val="f"/>
  <p:tag name="KSO_WM_UNIT_SUBTYPE" val="a"/>
  <p:tag name="KSO_WM_BEAUTIFY_FLAG" val="#wm#"/>
</p:tagLst>
</file>

<file path=ppt/tags/tag21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2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3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4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5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6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7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8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29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30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31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32.xml><?xml version="1.0" encoding="utf-8"?>
<p:tagLst xmlns:p="http://schemas.openxmlformats.org/presentationml/2006/main">
  <p:tag name="KSO_WM_DIAGRAM_VIRTUALLY_FRAME" val="{&quot;height&quot;:283.55,&quot;left&quot;:1.7,&quot;top&quot;:128.2,&quot;width&quot;:911.7}"/>
</p:tagLst>
</file>

<file path=ppt/tags/tag33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34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35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36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37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38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39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0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1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2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3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4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5.xml><?xml version="1.0" encoding="utf-8"?>
<p:tagLst xmlns:p="http://schemas.openxmlformats.org/presentationml/2006/main">
  <p:tag name="KSO_WM_DIAGRAM_VIRTUALLY_FRAME" val="{&quot;height&quot;:386.5,&quot;left&quot;:49.15,&quot;top&quot;:94.25,&quot;width&quot;:787.8}"/>
</p:tagLst>
</file>

<file path=ppt/tags/tag46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47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48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49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0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1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2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53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4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5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6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7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8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59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60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61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62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63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64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65.xml><?xml version="1.0" encoding="utf-8"?>
<p:tagLst xmlns:p="http://schemas.openxmlformats.org/presentationml/2006/main">
  <p:tag name="KSO_WM_DIAGRAM_VIRTUALLY_FRAME" val="{&quot;height&quot;:87.45,&quot;left&quot;:111.5,&quot;top&quot;:65.9,&quot;width&quot;:675.5}"/>
</p:tagLst>
</file>

<file path=ppt/tags/tag66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67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68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69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0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1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2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3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74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5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6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7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7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7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0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82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83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84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87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88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89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92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94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95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9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98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99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100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101.xml><?xml version="1.0" encoding="utf-8"?>
<p:tagLst xmlns:p="http://schemas.openxmlformats.org/presentationml/2006/main">
  <p:tag name="KSO_WM_DIAGRAM_VIRTUALLY_FRAME" val="{&quot;height&quot;:247.05,&quot;left&quot;:26.8,&quot;top&quot;:31.35,&quot;width&quot;:901}"/>
</p:tagLst>
</file>

<file path=ppt/tags/tag102.xml><?xml version="1.0" encoding="utf-8"?>
<p:tagLst xmlns:p="http://schemas.openxmlformats.org/presentationml/2006/main">
  <p:tag name="resource_record_key" val="{&quot;10&quot;:[19995231,363912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lang="zh-CN" altLang="en-US" b="1">
            <a:latin typeface="宋体" panose="02010600030101010101" pitchFamily="2" charset="-122"/>
            <a:ea typeface="宋体" panose="0201060003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演示</Application>
  <PresentationFormat>宽屏</PresentationFormat>
  <Paragraphs>216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Li</dc:creator>
  <cp:lastModifiedBy>undefined</cp:lastModifiedBy>
  <cp:revision>23</cp:revision>
  <dcterms:created xsi:type="dcterms:W3CDTF">2023-08-09T12:44:00Z</dcterms:created>
  <dcterms:modified xsi:type="dcterms:W3CDTF">2025-12-06T06:26:51Z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0FFB374EF87741258E9EC42A4DEF22FC_13</vt:lpwstr>
  </property>
</Properties>
</file>